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c13c2c27-f724-ad25-c9e4-b8d5e83f79f9}">
          <p14:sldIdLst>
            <p14:sldId id="256"/>
            <p14:sldId id="257"/>
            <p14:sldId id="258"/>
          </p14:sldIdLst>
        </p14:section>
        <p14:section name="Findings" id="{ba779b95-cd40-de8c-1807-acd7dda51120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Actions" id="{da7a5d5f-14fb-50eb-4f9b-14e9f0891a67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7C5CBF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16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Clothing</c:v>
                  </c:pt>
                  <c:pt idx="1">
                    <c:v>Accessories</c:v>
                  </c:pt>
                  <c:pt idx="2">
                    <c:v>Footwear</c:v>
                  </c:pt>
                  <c:pt idx="3">
                    <c:v>Outerwear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104264</c:v>
                </c:pt>
                <c:pt idx="1">
                  <c:v>74200</c:v>
                </c:pt>
                <c:pt idx="2">
                  <c:v>36093</c:v>
                </c:pt>
                <c:pt idx="3">
                  <c:v>18524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16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16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5000"/>
          <c:min val="0"/>
        </c:scaling>
        <c:delete val="1"/>
        <c:axPos val="l"/>
        <c:majorGridlines>
          <c:spPr>
            <a:ln w="6350" cap="flat">
              <a:solidFill>
                <a:srgbClr val="E5E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48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7C5CBF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16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C5CB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553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Male</c:v>
                  </c:pt>
                  <c:pt idx="1">
                    <c:v>Female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157890</c:v>
                </c:pt>
                <c:pt idx="1">
                  <c:v>75191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16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16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5000"/>
          <c:min val="0"/>
        </c:scaling>
        <c:delete val="1"/>
        <c:axPos val="l"/>
        <c:majorGridlines>
          <c:spPr>
            <a:ln w="6350" cap="flat">
              <a:solidFill>
                <a:srgbClr val="E5E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48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purchases with a discount (%)</c:v>
                </c:pt>
              </c:strCache>
            </c:strRef>
          </c:tx>
          <c:spPr>
            <a:solidFill>
              <a:srgbClr val="E8553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16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55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553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553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553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553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E6482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Hat</c:v>
                  </c:pt>
                  <c:pt idx="1">
                    <c:v>Sneakers</c:v>
                  </c:pt>
                  <c:pt idx="2">
                    <c:v>Coat</c:v>
                  </c:pt>
                  <c:pt idx="3">
                    <c:v>Sweater</c:v>
                  </c:pt>
                  <c:pt idx="4">
                    <c:v>Pants</c:v>
                  </c:pt>
                  <c:pt idx="5">
                    <c:v>All purchases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</c:v>
                </c:pt>
                <c:pt idx="1">
                  <c:v>49.66</c:v>
                </c:pt>
                <c:pt idx="2">
                  <c:v>49.07</c:v>
                </c:pt>
                <c:pt idx="3">
                  <c:v>48.17</c:v>
                </c:pt>
                <c:pt idx="4">
                  <c:v>47.37</c:v>
                </c:pt>
                <c:pt idx="5">
                  <c:v>43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F16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16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b"/>
        <c:majorGridlines>
          <c:spPr>
            <a:ln w="6350" cap="flat">
              <a:solidFill>
                <a:srgbClr val="E5E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48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C5CBF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2FA39A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E8553A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Loyal</c:v>
                </c:pt>
                <c:pt idx="1">
                  <c:v>Returning</c:v>
                </c:pt>
                <c:pt idx="2">
                  <c:v>New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3116</c:v>
                </c:pt>
                <c:pt idx="1">
                  <c:v>701</c:v>
                </c:pt>
                <c:pt idx="2">
                  <c:v>83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16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overview: 3,900 retail transactions analyzed with Python, SQL and Power BI to guide pricing, discount and loyalty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numbers from the cleaned dataset: 3,900 rows, 18 columns. Revenue is the sum of purchase amount in USD.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for cleaning and feature engineering, SQL for the business questions, Power BI for the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Category revenue: Clothing 104,264; Accessories 74,200; Footwear 36,093; Outerwear 18,524. Total 233,081.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Revenue: male 157,890 (67.7%), female 75,191 (32.3%). Per-purchase spend is almost equal, so the gap is volume.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Average spend per purchase. Subscribers total revenue 62,645 vs 170,436 for non-subscribers, driven by customer counts.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Discount rate by item: Hat 50.00, Sneakers 49.66, Coat 49.07, Sweater 48.17, Pants 47.37. Overall 1,677 of 3,900 purchases used a discount.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Segments: Loyal 3,116; Returning 701; New 83. Repeat buyers (more than five previous purchases): 3,476, of whom 958 subscribe.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Ratings use category-median imputation for the 37 missing values. Most ordered: Jewelry 171, Blouse 171 (tied with Pants), Sandals 160, Jacket 163.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Recommendations follow from the findings: subscription shows no spend premium, discounts are heavy on five items, and loyalty is strong but acquisition is weak.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Findings show associations, not causes. The next steps close the biggest data gaps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097280"/>
            <a:ext cx="51206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108960"/>
            <a:ext cx="49377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circle large"/>
          <p:cNvSpPr/>
          <p:nvPr/>
        </p:nvSpPr>
        <p:spPr>
          <a:xfrm>
            <a:off x="6035040" y="548640"/>
            <a:ext cx="3108960" cy="3108960"/>
          </a:xfrm>
          <a:prstGeom prst="ellipse">
            <a:avLst/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3" name="Motif circle coral"/>
          <p:cNvSpPr/>
          <p:nvPr/>
        </p:nvSpPr>
        <p:spPr>
          <a:xfrm>
            <a:off x="7223760" y="2377440"/>
            <a:ext cx="2377440" cy="2377440"/>
          </a:xfrm>
          <a:prstGeom prst="ellipse">
            <a:avLst/>
          </a:prstGeom>
          <a:solidFill>
            <a:schemeClr val="accent1">
              <a:alpha val="70000"/>
            </a:schemeClr>
          </a:solidFill>
          <a:ln/>
        </p:spPr>
      </p:sp>
      <p:sp>
        <p:nvSpPr>
          <p:cNvPr id="4" name="Motif circle small"/>
          <p:cNvSpPr/>
          <p:nvPr/>
        </p:nvSpPr>
        <p:spPr>
          <a:xfrm>
            <a:off x="5760720" y="3291840"/>
            <a:ext cx="1371600" cy="1371600"/>
          </a:xfrm>
          <a:prstGeom prst="ellipse">
            <a:avLst/>
          </a:prstGeom>
          <a:solidFill>
            <a:schemeClr val="accent5">
              <a:alpha val="55000"/>
            </a:schemeClr>
          </a:solidFill>
          <a:ln/>
        </p:spPr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109728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Customer Shopping Behavior Analysis</a:t>
            </a:r>
            <a:endParaRPr lang="en-US" sz="40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640080" y="31089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What 3,900 purchases say about spend, loyalty, subscriptions and discounts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3,900 purchases brought in $233K at a steady $59.76 average</a:t>
            </a:r>
            <a:endParaRPr lang="en-US" sz="2800" dirty="0"/>
          </a:p>
        </p:txBody>
      </p:sp>
      <p:sp>
        <p:nvSpPr>
          <p:cNvPr id="3" name="Stat card 1"/>
          <p:cNvSpPr/>
          <p:nvPr/>
        </p:nvSpPr>
        <p:spPr>
          <a:xfrm>
            <a:off x="548640" y="1554480"/>
            <a:ext cx="182880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4" name="Stat value 1"/>
          <p:cNvSpPr txBox="1"/>
          <p:nvPr/>
        </p:nvSpPr>
        <p:spPr>
          <a:xfrm>
            <a:off x="685800" y="19202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3,900</a:t>
            </a:r>
            <a:endParaRPr lang="en-US" sz="2800" dirty="0"/>
          </a:p>
        </p:txBody>
      </p:sp>
      <p:sp>
        <p:nvSpPr>
          <p:cNvPr id="5" name="Stat label 1"/>
          <p:cNvSpPr txBox="1"/>
          <p:nvPr/>
        </p:nvSpPr>
        <p:spPr>
          <a:xfrm>
            <a:off x="685800" y="2697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purchases analyzed</a:t>
            </a:r>
            <a:endParaRPr lang="en-US" sz="1400" dirty="0"/>
          </a:p>
        </p:txBody>
      </p:sp>
      <p:sp>
        <p:nvSpPr>
          <p:cNvPr id="6" name="Stat card 2"/>
          <p:cNvSpPr/>
          <p:nvPr/>
        </p:nvSpPr>
        <p:spPr>
          <a:xfrm>
            <a:off x="2624328" y="1554480"/>
            <a:ext cx="182880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7" name="Stat value 2"/>
          <p:cNvSpPr txBox="1"/>
          <p:nvPr/>
        </p:nvSpPr>
        <p:spPr>
          <a:xfrm>
            <a:off x="2761488" y="19202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$233,081</a:t>
            </a:r>
            <a:endParaRPr lang="en-US" sz="2800" dirty="0"/>
          </a:p>
        </p:txBody>
      </p:sp>
      <p:sp>
        <p:nvSpPr>
          <p:cNvPr id="8" name="Stat label 2"/>
          <p:cNvSpPr txBox="1"/>
          <p:nvPr/>
        </p:nvSpPr>
        <p:spPr>
          <a:xfrm>
            <a:off x="2761488" y="2697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total revenue</a:t>
            </a:r>
            <a:endParaRPr lang="en-US" sz="1400" dirty="0"/>
          </a:p>
        </p:txBody>
      </p:sp>
      <p:sp>
        <p:nvSpPr>
          <p:cNvPr id="9" name="Stat card 3"/>
          <p:cNvSpPr/>
          <p:nvPr/>
        </p:nvSpPr>
        <p:spPr>
          <a:xfrm>
            <a:off x="4700016" y="1554480"/>
            <a:ext cx="182880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0" name="Stat value 3"/>
          <p:cNvSpPr txBox="1"/>
          <p:nvPr/>
        </p:nvSpPr>
        <p:spPr>
          <a:xfrm>
            <a:off x="4837176" y="19202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$59.76</a:t>
            </a:r>
            <a:endParaRPr lang="en-US" sz="2800" dirty="0"/>
          </a:p>
        </p:txBody>
      </p:sp>
      <p:sp>
        <p:nvSpPr>
          <p:cNvPr id="11" name="Stat label 3"/>
          <p:cNvSpPr txBox="1"/>
          <p:nvPr/>
        </p:nvSpPr>
        <p:spPr>
          <a:xfrm>
            <a:off x="4837176" y="2697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average purchase</a:t>
            </a:r>
            <a:endParaRPr lang="en-US" sz="1400" dirty="0"/>
          </a:p>
        </p:txBody>
      </p:sp>
      <p:sp>
        <p:nvSpPr>
          <p:cNvPr id="12" name="Stat card 4"/>
          <p:cNvSpPr/>
          <p:nvPr/>
        </p:nvSpPr>
        <p:spPr>
          <a:xfrm>
            <a:off x="6775704" y="1554480"/>
            <a:ext cx="182880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3" name="Stat value 4"/>
          <p:cNvSpPr txBox="1"/>
          <p:nvPr/>
        </p:nvSpPr>
        <p:spPr>
          <a:xfrm>
            <a:off x="6912864" y="19202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3.75</a:t>
            </a:r>
            <a:endParaRPr lang="en-US" sz="2800" dirty="0"/>
          </a:p>
        </p:txBody>
      </p:sp>
      <p:sp>
        <p:nvSpPr>
          <p:cNvPr id="14" name="Stat label 4"/>
          <p:cNvSpPr txBox="1"/>
          <p:nvPr/>
        </p:nvSpPr>
        <p:spPr>
          <a:xfrm>
            <a:off x="6912864" y="2697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average review rating</a:t>
            </a:r>
            <a:endParaRPr lang="en-US" sz="1400" dirty="0"/>
          </a:p>
        </p:txBody>
      </p:sp>
      <p:sp>
        <p:nvSpPr>
          <p:cNvPr id="15" name="Context line"/>
          <p:cNvSpPr txBox="1"/>
          <p:nvPr/>
        </p:nvSpPr>
        <p:spPr>
          <a:xfrm>
            <a:off x="548640" y="3749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68% of purchases are by men and 32% by women. 27% of customers subscribe, and 43% of purchases used a discount.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Four steps took the raw file to a finished dashboard</a:t>
            </a:r>
            <a:endParaRPr lang="en-US" sz="2800" dirty="0"/>
          </a:p>
        </p:txBody>
      </p:sp>
      <p:sp>
        <p:nvSpPr>
          <p:cNvPr id="3" name="Step card 1"/>
          <p:cNvSpPr/>
          <p:nvPr/>
        </p:nvSpPr>
        <p:spPr>
          <a:xfrm>
            <a:off x="548640" y="1463040"/>
            <a:ext cx="1828800" cy="27432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4" name="Step 1 badge"/>
          <p:cNvSpPr/>
          <p:nvPr/>
        </p:nvSpPr>
        <p:spPr>
          <a:xfrm>
            <a:off x="685800" y="16459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Step 1 number"/>
          <p:cNvSpPr txBox="1"/>
          <p:nvPr/>
        </p:nvSpPr>
        <p:spPr>
          <a:xfrm>
            <a:off x="68580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tep title 1"/>
          <p:cNvSpPr txBox="1"/>
          <p:nvPr/>
        </p:nvSpPr>
        <p:spPr>
          <a:xfrm>
            <a:off x="685800" y="22860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data</a:t>
            </a:r>
            <a:endParaRPr lang="en-US" sz="1800" dirty="0"/>
          </a:p>
        </p:txBody>
      </p:sp>
      <p:sp>
        <p:nvSpPr>
          <p:cNvPr id="7" name="Step text 1"/>
          <p:cNvSpPr txBox="1"/>
          <p:nvPr/>
        </p:nvSpPr>
        <p:spPr>
          <a:xfrm>
            <a:off x="685800" y="274320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 Python: filled 37 missing ratings, standardized column names, added age_group</a:t>
            </a:r>
            <a:endParaRPr lang="en-US" sz="1400" dirty="0"/>
          </a:p>
        </p:txBody>
      </p:sp>
      <p:sp>
        <p:nvSpPr>
          <p:cNvPr id="8" name="Step card 2"/>
          <p:cNvSpPr/>
          <p:nvPr/>
        </p:nvSpPr>
        <p:spPr>
          <a:xfrm>
            <a:off x="2624328" y="1463040"/>
            <a:ext cx="1828800" cy="27432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9" name="Step 2 badge"/>
          <p:cNvSpPr/>
          <p:nvPr/>
        </p:nvSpPr>
        <p:spPr>
          <a:xfrm>
            <a:off x="2761488" y="16459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Step 2 number"/>
          <p:cNvSpPr txBox="1"/>
          <p:nvPr/>
        </p:nvSpPr>
        <p:spPr>
          <a:xfrm>
            <a:off x="2761488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Step title 2"/>
          <p:cNvSpPr txBox="1"/>
          <p:nvPr/>
        </p:nvSpPr>
        <p:spPr>
          <a:xfrm>
            <a:off x="2761488" y="22860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to SQL</a:t>
            </a:r>
            <a:endParaRPr lang="en-US" sz="1800" dirty="0"/>
          </a:p>
        </p:txBody>
      </p:sp>
      <p:sp>
        <p:nvSpPr>
          <p:cNvPr id="12" name="Step text 2"/>
          <p:cNvSpPr txBox="1"/>
          <p:nvPr/>
        </p:nvSpPr>
        <p:spPr>
          <a:xfrm>
            <a:off x="2761488" y="274320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Wrote the cleaned data to a database for querying</a:t>
            </a:r>
            <a:endParaRPr lang="en-US" sz="1400" dirty="0"/>
          </a:p>
        </p:txBody>
      </p:sp>
      <p:sp>
        <p:nvSpPr>
          <p:cNvPr id="13" name="Step card 3"/>
          <p:cNvSpPr/>
          <p:nvPr/>
        </p:nvSpPr>
        <p:spPr>
          <a:xfrm>
            <a:off x="4700016" y="1463040"/>
            <a:ext cx="1828800" cy="27432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4" name="Step 3 badge"/>
          <p:cNvSpPr/>
          <p:nvPr/>
        </p:nvSpPr>
        <p:spPr>
          <a:xfrm>
            <a:off x="4837176" y="16459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Step 3 number"/>
          <p:cNvSpPr txBox="1"/>
          <p:nvPr/>
        </p:nvSpPr>
        <p:spPr>
          <a:xfrm>
            <a:off x="4837176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Step title 3"/>
          <p:cNvSpPr txBox="1"/>
          <p:nvPr/>
        </p:nvSpPr>
        <p:spPr>
          <a:xfrm>
            <a:off x="4837176" y="22860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800" dirty="0"/>
          </a:p>
        </p:txBody>
      </p:sp>
      <p:sp>
        <p:nvSpPr>
          <p:cNvPr id="17" name="Step text 3"/>
          <p:cNvSpPr txBox="1"/>
          <p:nvPr/>
        </p:nvSpPr>
        <p:spPr>
          <a:xfrm>
            <a:off x="4837176" y="274320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Answered nine business questions with SQL</a:t>
            </a:r>
            <a:endParaRPr lang="en-US" sz="1400" dirty="0"/>
          </a:p>
        </p:txBody>
      </p:sp>
      <p:sp>
        <p:nvSpPr>
          <p:cNvPr id="18" name="Step card 4"/>
          <p:cNvSpPr/>
          <p:nvPr/>
        </p:nvSpPr>
        <p:spPr>
          <a:xfrm>
            <a:off x="6775704" y="1463040"/>
            <a:ext cx="1828800" cy="27432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9" name="Step 4 badge"/>
          <p:cNvSpPr/>
          <p:nvPr/>
        </p:nvSpPr>
        <p:spPr>
          <a:xfrm>
            <a:off x="6912864" y="16459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Step 4 number"/>
          <p:cNvSpPr txBox="1"/>
          <p:nvPr/>
        </p:nvSpPr>
        <p:spPr>
          <a:xfrm>
            <a:off x="6912864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Step title 4"/>
          <p:cNvSpPr txBox="1"/>
          <p:nvPr/>
        </p:nvSpPr>
        <p:spPr>
          <a:xfrm>
            <a:off x="6912864" y="22860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</a:t>
            </a:r>
            <a:endParaRPr lang="en-US" sz="1800" dirty="0"/>
          </a:p>
        </p:txBody>
      </p:sp>
      <p:sp>
        <p:nvSpPr>
          <p:cNvPr id="22" name="Step text 4"/>
          <p:cNvSpPr txBox="1"/>
          <p:nvPr/>
        </p:nvSpPr>
        <p:spPr>
          <a:xfrm>
            <a:off x="6912864" y="274320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Built a Power BI dashboard with four filters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Clothing and Accessories bring in 77% of revenue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325880"/>
          <a:ext cx="52120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llout share"/>
          <p:cNvSpPr/>
          <p:nvPr/>
        </p:nvSpPr>
        <p:spPr>
          <a:xfrm>
            <a:off x="6035040" y="1463040"/>
            <a:ext cx="25603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5" name="Share value"/>
          <p:cNvSpPr txBox="1"/>
          <p:nvPr/>
        </p:nvSpPr>
        <p:spPr>
          <a:xfrm>
            <a:off x="6217920" y="1554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77%</a:t>
            </a:r>
            <a:endParaRPr lang="en-US" sz="4000" dirty="0"/>
          </a:p>
        </p:txBody>
      </p:sp>
      <p:sp>
        <p:nvSpPr>
          <p:cNvPr id="6" name="Share label"/>
          <p:cNvSpPr txBox="1"/>
          <p:nvPr/>
        </p:nvSpPr>
        <p:spPr>
          <a:xfrm>
            <a:off x="621792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of revenue from Clothing and Accessories</a:t>
            </a:r>
            <a:endParaRPr lang="en-US" sz="1400" dirty="0"/>
          </a:p>
        </p:txBody>
      </p:sp>
      <p:sp>
        <p:nvSpPr>
          <p:cNvPr id="7" name="Category note"/>
          <p:cNvSpPr txBox="1"/>
          <p:nvPr/>
        </p:nvSpPr>
        <p:spPr>
          <a:xfrm>
            <a:off x="6035040" y="310896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Clothing alone is $104,264 (45%). Outerwear is the smallest category at 8%, with only two items.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Men generate 68% of revenue because they buy more often, not because they spend more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417320"/>
          <a:ext cx="43891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Purchases card"/>
          <p:cNvSpPr/>
          <p:nvPr/>
        </p:nvSpPr>
        <p:spPr>
          <a:xfrm>
            <a:off x="5212080" y="1463040"/>
            <a:ext cx="33832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5" name="Purchases value"/>
          <p:cNvSpPr txBox="1"/>
          <p:nvPr/>
        </p:nvSpPr>
        <p:spPr>
          <a:xfrm>
            <a:off x="5394960" y="15727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2,652 vs 1,248</a:t>
            </a:r>
            <a:endParaRPr lang="en-US" sz="2800" dirty="0"/>
          </a:p>
        </p:txBody>
      </p:sp>
      <p:sp>
        <p:nvSpPr>
          <p:cNvPr id="6" name="Purchases label"/>
          <p:cNvSpPr txBox="1"/>
          <p:nvPr/>
        </p:nvSpPr>
        <p:spPr>
          <a:xfrm>
            <a:off x="539496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purchases by men vs women</a:t>
            </a:r>
            <a:endParaRPr lang="en-US" sz="1400" dirty="0"/>
          </a:p>
        </p:txBody>
      </p:sp>
      <p:sp>
        <p:nvSpPr>
          <p:cNvPr id="7" name="Spend card"/>
          <p:cNvSpPr/>
          <p:nvPr/>
        </p:nvSpPr>
        <p:spPr>
          <a:xfrm>
            <a:off x="5212080" y="3108960"/>
            <a:ext cx="33832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8" name="Spend value"/>
          <p:cNvSpPr txBox="1"/>
          <p:nvPr/>
        </p:nvSpPr>
        <p:spPr>
          <a:xfrm>
            <a:off x="5394960" y="321868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$59.54 vs $60.25</a:t>
            </a:r>
            <a:endParaRPr lang="en-US" sz="2800" dirty="0"/>
          </a:p>
        </p:txBody>
      </p:sp>
      <p:sp>
        <p:nvSpPr>
          <p:cNvPr id="9" name="Spend label"/>
          <p:cNvSpPr txBox="1"/>
          <p:nvPr/>
        </p:nvSpPr>
        <p:spPr>
          <a:xfrm>
            <a:off x="5394960" y="3840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average spend per purchase, men vs women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Spend per purchase barely changes with subscription or shipping speed</a:t>
            </a:r>
            <a:endParaRPr lang="en-US" sz="2800" dirty="0"/>
          </a:p>
        </p:txBody>
      </p:sp>
      <p:sp>
        <p:nvSpPr>
          <p:cNvPr id="3" name="Panel subs"/>
          <p:cNvSpPr/>
          <p:nvPr/>
        </p:nvSpPr>
        <p:spPr>
          <a:xfrm>
            <a:off x="548640" y="1417320"/>
            <a:ext cx="393192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4" name="Panel head subs"/>
          <p:cNvSpPr txBox="1"/>
          <p:nvPr/>
        </p:nvSpPr>
        <p:spPr>
          <a:xfrm>
            <a:off x="77724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Subscribers vs. non-subscribers</a:t>
            </a:r>
            <a:endParaRPr lang="en-US" sz="1800" dirty="0"/>
          </a:p>
        </p:txBody>
      </p:sp>
      <p:sp>
        <p:nvSpPr>
          <p:cNvPr id="5" name="Panel A value subs"/>
          <p:cNvSpPr txBox="1"/>
          <p:nvPr/>
        </p:nvSpPr>
        <p:spPr>
          <a:xfrm>
            <a:off x="777240" y="2103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$59.49</a:t>
            </a:r>
            <a:endParaRPr lang="en-US" sz="3200" dirty="0"/>
          </a:p>
        </p:txBody>
      </p:sp>
      <p:sp>
        <p:nvSpPr>
          <p:cNvPr id="6" name="Panel A label subs"/>
          <p:cNvSpPr txBox="1"/>
          <p:nvPr/>
        </p:nvSpPr>
        <p:spPr>
          <a:xfrm>
            <a:off x="777240" y="27432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subscribers (1,053 customers)</a:t>
            </a:r>
            <a:endParaRPr lang="en-US" sz="1400" dirty="0"/>
          </a:p>
        </p:txBody>
      </p:sp>
      <p:sp>
        <p:nvSpPr>
          <p:cNvPr id="7" name="Panel B value subs"/>
          <p:cNvSpPr txBox="1"/>
          <p:nvPr/>
        </p:nvSpPr>
        <p:spPr>
          <a:xfrm>
            <a:off x="2606040" y="2103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$59.87</a:t>
            </a:r>
            <a:endParaRPr lang="en-US" sz="3200" dirty="0"/>
          </a:p>
        </p:txBody>
      </p:sp>
      <p:sp>
        <p:nvSpPr>
          <p:cNvPr id="8" name="Panel B label subs"/>
          <p:cNvSpPr txBox="1"/>
          <p:nvPr/>
        </p:nvSpPr>
        <p:spPr>
          <a:xfrm>
            <a:off x="2606040" y="27432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non-subscribers (2,847 customers)</a:t>
            </a:r>
            <a:endParaRPr lang="en-US" sz="1400" dirty="0"/>
          </a:p>
        </p:txBody>
      </p:sp>
      <p:sp>
        <p:nvSpPr>
          <p:cNvPr id="9" name="Panel ship"/>
          <p:cNvSpPr/>
          <p:nvPr/>
        </p:nvSpPr>
        <p:spPr>
          <a:xfrm>
            <a:off x="4663440" y="1417320"/>
            <a:ext cx="393192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10" name="Panel head ship"/>
          <p:cNvSpPr txBox="1"/>
          <p:nvPr/>
        </p:nvSpPr>
        <p:spPr>
          <a:xfrm>
            <a:off x="489204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 vs. standard shipping</a:t>
            </a:r>
            <a:endParaRPr lang="en-US" sz="1800" dirty="0"/>
          </a:p>
        </p:txBody>
      </p:sp>
      <p:sp>
        <p:nvSpPr>
          <p:cNvPr id="11" name="Panel A value ship"/>
          <p:cNvSpPr txBox="1"/>
          <p:nvPr/>
        </p:nvSpPr>
        <p:spPr>
          <a:xfrm>
            <a:off x="4892040" y="2103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$60.48</a:t>
            </a:r>
            <a:endParaRPr lang="en-US" sz="3200" dirty="0"/>
          </a:p>
        </p:txBody>
      </p:sp>
      <p:sp>
        <p:nvSpPr>
          <p:cNvPr id="12" name="Panel A label ship"/>
          <p:cNvSpPr txBox="1"/>
          <p:nvPr/>
        </p:nvSpPr>
        <p:spPr>
          <a:xfrm>
            <a:off x="4892040" y="27432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express (646 purchases)</a:t>
            </a:r>
            <a:endParaRPr lang="en-US" sz="1400" dirty="0"/>
          </a:p>
        </p:txBody>
      </p:sp>
      <p:sp>
        <p:nvSpPr>
          <p:cNvPr id="13" name="Panel B value ship"/>
          <p:cNvSpPr txBox="1"/>
          <p:nvPr/>
        </p:nvSpPr>
        <p:spPr>
          <a:xfrm>
            <a:off x="6720840" y="2103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$58.46</a:t>
            </a:r>
            <a:endParaRPr lang="en-US" sz="3200" dirty="0"/>
          </a:p>
        </p:txBody>
      </p:sp>
      <p:sp>
        <p:nvSpPr>
          <p:cNvPr id="14" name="Panel B label ship"/>
          <p:cNvSpPr txBox="1"/>
          <p:nvPr/>
        </p:nvSpPr>
        <p:spPr>
          <a:xfrm>
            <a:off x="6720840" y="27432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standard (654 purchases)</a:t>
            </a:r>
            <a:endParaRPr lang="en-US" sz="1400" dirty="0"/>
          </a:p>
        </p:txBody>
      </p:sp>
      <p:sp>
        <p:nvSpPr>
          <p:cNvPr id="15" name="Panel takeaway"/>
          <p:cNvSpPr txBox="1"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27% of customers subscribe, and they spend about the same as everyone else. Express buyers spend 3.5% more, a small edge.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Five items are discounted on about half of their purchases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32588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Discount callout"/>
          <p:cNvSpPr/>
          <p:nvPr/>
        </p:nvSpPr>
        <p:spPr>
          <a:xfrm>
            <a:off x="5943600" y="1463040"/>
            <a:ext cx="26517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5" name="Discount value"/>
          <p:cNvSpPr txBox="1"/>
          <p:nvPr/>
        </p:nvSpPr>
        <p:spPr>
          <a:xfrm>
            <a:off x="6126480" y="1554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4000" dirty="0"/>
          </a:p>
        </p:txBody>
      </p:sp>
      <p:sp>
        <p:nvSpPr>
          <p:cNvPr id="6" name="Discount label"/>
          <p:cNvSpPr txBox="1"/>
          <p:nvPr/>
        </p:nvSpPr>
        <p:spPr>
          <a:xfrm>
            <a:off x="6126480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of Hat purchases used a discount</a:t>
            </a:r>
            <a:endParaRPr lang="en-US" sz="1400" dirty="0"/>
          </a:p>
        </p:txBody>
      </p:sp>
      <p:sp>
        <p:nvSpPr>
          <p:cNvPr id="7" name="Discount note"/>
          <p:cNvSpPr txBox="1"/>
          <p:nvPr/>
        </p:nvSpPr>
        <p:spPr>
          <a:xfrm>
            <a:off x="5943600" y="310896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Across all 3,900 purchases the rate is 43%. Hat is also a top-rated item, so its discount may give away margin.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Four in five customers are Loyal, but new customers are scarce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371600"/>
          <a:ext cx="4023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Loyal card"/>
          <p:cNvSpPr/>
          <p:nvPr/>
        </p:nvSpPr>
        <p:spPr>
          <a:xfrm>
            <a:off x="4846320" y="1463040"/>
            <a:ext cx="3749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5" name="Loyal value"/>
          <p:cNvSpPr txBox="1"/>
          <p:nvPr/>
        </p:nvSpPr>
        <p:spPr>
          <a:xfrm>
            <a:off x="5029200" y="157276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3,116 Loyal</a:t>
            </a:r>
            <a:endParaRPr lang="en-US" sz="2800" dirty="0"/>
          </a:p>
        </p:txBody>
      </p:sp>
      <p:sp>
        <p:nvSpPr>
          <p:cNvPr id="6" name="Loyal label"/>
          <p:cNvSpPr txBox="1"/>
          <p:nvPr/>
        </p:nvSpPr>
        <p:spPr>
          <a:xfrm>
            <a:off x="5029200" y="21488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80% of customers, against 701 Returning and 83 New (2%)</a:t>
            </a:r>
            <a:endParaRPr lang="en-US" sz="1400" dirty="0"/>
          </a:p>
        </p:txBody>
      </p:sp>
      <p:sp>
        <p:nvSpPr>
          <p:cNvPr id="7" name="Repeat card"/>
          <p:cNvSpPr/>
          <p:nvPr/>
        </p:nvSpPr>
        <p:spPr>
          <a:xfrm>
            <a:off x="4846320" y="3063240"/>
            <a:ext cx="37490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8" name="Repeat value"/>
          <p:cNvSpPr txBox="1"/>
          <p:nvPr/>
        </p:nvSpPr>
        <p:spPr>
          <a:xfrm>
            <a:off x="5029200" y="317296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27.6% vs 27.0%</a:t>
            </a:r>
            <a:endParaRPr lang="en-US" sz="2800" dirty="0"/>
          </a:p>
        </p:txBody>
      </p:sp>
      <p:sp>
        <p:nvSpPr>
          <p:cNvPr id="9" name="Repeat label"/>
          <p:cNvSpPr txBox="1"/>
          <p:nvPr/>
        </p:nvSpPr>
        <p:spPr>
          <a:xfrm>
            <a:off x="5029200" y="37490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of repeat buyers subscribe vs all customers, so repeat buying does not lead to subscribing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Top-rated and most-ordered products are separated by thin margins</a:t>
            </a:r>
            <a:endParaRPr lang="en-US" sz="2800" dirty="0"/>
          </a:p>
        </p:txBody>
      </p:sp>
      <p:sp>
        <p:nvSpPr>
          <p:cNvPr id="3" name="Left table head"/>
          <p:cNvSpPr txBox="1"/>
          <p:nvPr/>
        </p:nvSpPr>
        <p:spPr>
          <a:xfrm>
            <a:off x="54864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Highest average rating</a:t>
            </a:r>
            <a:endParaRPr lang="en-US" sz="1600" dirty="0"/>
          </a:p>
        </p:txBody>
      </p:sp>
      <p:graphicFrame>
        <p:nvGraphicFramePr>
          <p:cNvPr id="10" name="Top rated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384048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55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Gloves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1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Sandals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1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1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1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1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ight table head"/>
          <p:cNvSpPr txBox="1"/>
          <p:nvPr/>
        </p:nvSpPr>
        <p:spPr>
          <a:xfrm>
            <a:off x="475488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ordered per category</a:t>
            </a:r>
            <a:endParaRPr lang="en-US" sz="1600" dirty="0"/>
          </a:p>
        </p:txBody>
      </p:sp>
      <p:graphicFrame>
        <p:nvGraphicFramePr>
          <p:cNvPr id="19" name="Top ordered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783080"/>
          <a:ext cx="3840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371600"/>
                <a:gridCol w="1005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item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55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Accessories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Jewelry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1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Clothing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1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Footwear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Sandals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1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Outerwear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Jacket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1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Products note"/>
          <p:cNvSpPr/>
          <p:nvPr/>
        </p:nvSpPr>
        <p:spPr>
          <a:xfrm>
            <a:off x="548640" y="4251960"/>
            <a:ext cx="804672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/>
        </p:spPr>
      </p:sp>
      <p:sp>
        <p:nvSpPr>
          <p:cNvPr id="8" name="Products note text"/>
          <p:cNvSpPr txBox="1"/>
          <p:nvPr/>
        </p:nvSpPr>
        <p:spPr>
          <a:xfrm>
            <a:off x="731520" y="4251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top five ratings span only 0.08 points, and no single product dominates a category.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Six actions to grow spend and loyalty</a:t>
            </a:r>
            <a:endParaRPr lang="en-US" sz="2800" dirty="0"/>
          </a:p>
        </p:txBody>
      </p:sp>
      <p:sp>
        <p:nvSpPr>
          <p:cNvPr id="3" name="Action card 1"/>
          <p:cNvSpPr/>
          <p:nvPr/>
        </p:nvSpPr>
        <p:spPr>
          <a:xfrm>
            <a:off x="548640" y="1188720"/>
            <a:ext cx="25603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4" name="Action 1 badge"/>
          <p:cNvSpPr/>
          <p:nvPr/>
        </p:nvSpPr>
        <p:spPr>
          <a:xfrm>
            <a:off x="685800" y="13258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Action 1 number"/>
          <p:cNvSpPr txBox="1"/>
          <p:nvPr/>
        </p:nvSpPr>
        <p:spPr>
          <a:xfrm>
            <a:off x="68580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Action title 1"/>
          <p:cNvSpPr txBox="1"/>
          <p:nvPr/>
        </p:nvSpPr>
        <p:spPr>
          <a:xfrm>
            <a:off x="1188720" y="13075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Make subscriptions worth having</a:t>
            </a:r>
            <a:endParaRPr lang="en-US" sz="1400" dirty="0"/>
          </a:p>
        </p:txBody>
      </p:sp>
      <p:sp>
        <p:nvSpPr>
          <p:cNvPr id="7" name="Action text 1"/>
          <p:cNvSpPr txBox="1"/>
          <p:nvPr/>
        </p:nvSpPr>
        <p:spPr>
          <a:xfrm>
            <a:off x="685800" y="19202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 real benefits, then track whether subscriber spend rises</a:t>
            </a:r>
            <a:endParaRPr lang="en-US" sz="1400" dirty="0"/>
          </a:p>
        </p:txBody>
      </p:sp>
      <p:sp>
        <p:nvSpPr>
          <p:cNvPr id="8" name="Action card 2"/>
          <p:cNvSpPr/>
          <p:nvPr/>
        </p:nvSpPr>
        <p:spPr>
          <a:xfrm>
            <a:off x="3291840" y="1188720"/>
            <a:ext cx="25603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9" name="Action 2 badge"/>
          <p:cNvSpPr/>
          <p:nvPr/>
        </p:nvSpPr>
        <p:spPr>
          <a:xfrm>
            <a:off x="3429000" y="132588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Action 2 number"/>
          <p:cNvSpPr txBox="1"/>
          <p:nvPr/>
        </p:nvSpPr>
        <p:spPr>
          <a:xfrm>
            <a:off x="342900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Action title 2"/>
          <p:cNvSpPr txBox="1"/>
          <p:nvPr/>
        </p:nvSpPr>
        <p:spPr>
          <a:xfrm>
            <a:off x="3931920" y="13075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Tighten discounts</a:t>
            </a:r>
            <a:endParaRPr lang="en-US" sz="1400" dirty="0"/>
          </a:p>
        </p:txBody>
      </p:sp>
      <p:sp>
        <p:nvSpPr>
          <p:cNvPr id="12" name="Action text 2"/>
          <p:cNvSpPr txBox="1"/>
          <p:nvPr/>
        </p:nvSpPr>
        <p:spPr>
          <a:xfrm>
            <a:off x="3429000" y="19202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 smaller offers on Hat, Sneakers, Coat, Sweater and Pants</a:t>
            </a:r>
            <a:endParaRPr lang="en-US" sz="1400" dirty="0"/>
          </a:p>
        </p:txBody>
      </p:sp>
      <p:sp>
        <p:nvSpPr>
          <p:cNvPr id="13" name="Action card 3"/>
          <p:cNvSpPr/>
          <p:nvPr/>
        </p:nvSpPr>
        <p:spPr>
          <a:xfrm>
            <a:off x="6035040" y="1188720"/>
            <a:ext cx="25603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4" name="Action 3 badge"/>
          <p:cNvSpPr/>
          <p:nvPr/>
        </p:nvSpPr>
        <p:spPr>
          <a:xfrm>
            <a:off x="6172200" y="13258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Action 3 number"/>
          <p:cNvSpPr txBox="1"/>
          <p:nvPr/>
        </p:nvSpPr>
        <p:spPr>
          <a:xfrm>
            <a:off x="617220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Action title 3"/>
          <p:cNvSpPr txBox="1"/>
          <p:nvPr/>
        </p:nvSpPr>
        <p:spPr>
          <a:xfrm>
            <a:off x="6675120" y="13075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Build loyalty</a:t>
            </a:r>
            <a:endParaRPr lang="en-US" sz="1400" dirty="0"/>
          </a:p>
        </p:txBody>
      </p:sp>
      <p:sp>
        <p:nvSpPr>
          <p:cNvPr id="17" name="Action text 3"/>
          <p:cNvSpPr txBox="1"/>
          <p:nvPr/>
        </p:nvSpPr>
        <p:spPr>
          <a:xfrm>
            <a:off x="6172200" y="19202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Reward repeat buyers and add a referral offer for new ones</a:t>
            </a:r>
            <a:endParaRPr lang="en-US" sz="1400" dirty="0"/>
          </a:p>
        </p:txBody>
      </p:sp>
      <p:sp>
        <p:nvSpPr>
          <p:cNvPr id="18" name="Action card 4"/>
          <p:cNvSpPr/>
          <p:nvPr/>
        </p:nvSpPr>
        <p:spPr>
          <a:xfrm>
            <a:off x="548640" y="2971800"/>
            <a:ext cx="25603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9" name="Action 4 badge"/>
          <p:cNvSpPr/>
          <p:nvPr/>
        </p:nvSpPr>
        <p:spPr>
          <a:xfrm>
            <a:off x="685800" y="310896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Action 4 number"/>
          <p:cNvSpPr txBox="1"/>
          <p:nvPr/>
        </p:nvSpPr>
        <p:spPr>
          <a:xfrm>
            <a:off x="68580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Action title 4"/>
          <p:cNvSpPr txBox="1"/>
          <p:nvPr/>
        </p:nvSpPr>
        <p:spPr>
          <a:xfrm>
            <a:off x="1188720" y="30906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Promote express shipping</a:t>
            </a:r>
            <a:endParaRPr lang="en-US" sz="1400" dirty="0"/>
          </a:p>
        </p:txBody>
      </p:sp>
      <p:sp>
        <p:nvSpPr>
          <p:cNvPr id="22" name="Action text 4"/>
          <p:cNvSpPr txBox="1"/>
          <p:nvPr/>
        </p:nvSpPr>
        <p:spPr>
          <a:xfrm>
            <a:off x="685800" y="37033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Express buyers spend 3.5% more per purchase</a:t>
            </a:r>
            <a:endParaRPr lang="en-US" sz="1400" dirty="0"/>
          </a:p>
        </p:txBody>
      </p:sp>
      <p:sp>
        <p:nvSpPr>
          <p:cNvPr id="23" name="Action card 5"/>
          <p:cNvSpPr/>
          <p:nvPr/>
        </p:nvSpPr>
        <p:spPr>
          <a:xfrm>
            <a:off x="3291840" y="2971800"/>
            <a:ext cx="25603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24" name="Action 5 badge"/>
          <p:cNvSpPr/>
          <p:nvPr/>
        </p:nvSpPr>
        <p:spPr>
          <a:xfrm>
            <a:off x="3429000" y="31089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Action 5 number"/>
          <p:cNvSpPr txBox="1"/>
          <p:nvPr/>
        </p:nvSpPr>
        <p:spPr>
          <a:xfrm>
            <a:off x="342900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Action title 5"/>
          <p:cNvSpPr txBox="1"/>
          <p:nvPr/>
        </p:nvSpPr>
        <p:spPr>
          <a:xfrm>
            <a:off x="3931920" y="30906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Feature top items</a:t>
            </a:r>
            <a:endParaRPr lang="en-US" sz="1400" dirty="0"/>
          </a:p>
        </p:txBody>
      </p:sp>
      <p:sp>
        <p:nvSpPr>
          <p:cNvPr id="27" name="Action text 5"/>
          <p:cNvSpPr txBox="1"/>
          <p:nvPr/>
        </p:nvSpPr>
        <p:spPr>
          <a:xfrm>
            <a:off x="3429000" y="37033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Lead campaigns with top-rated and most-ordered products</a:t>
            </a:r>
            <a:endParaRPr lang="en-US" sz="1400" dirty="0"/>
          </a:p>
        </p:txBody>
      </p:sp>
      <p:sp>
        <p:nvSpPr>
          <p:cNvPr id="28" name="Action card 6"/>
          <p:cNvSpPr/>
          <p:nvPr/>
        </p:nvSpPr>
        <p:spPr>
          <a:xfrm>
            <a:off x="6035040" y="2971800"/>
            <a:ext cx="25603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29" name="Action 6 badge"/>
          <p:cNvSpPr/>
          <p:nvPr/>
        </p:nvSpPr>
        <p:spPr>
          <a:xfrm>
            <a:off x="6172200" y="310896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Action 6 number"/>
          <p:cNvSpPr txBox="1"/>
          <p:nvPr/>
        </p:nvSpPr>
        <p:spPr>
          <a:xfrm>
            <a:off x="617220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Action title 6"/>
          <p:cNvSpPr txBox="1"/>
          <p:nvPr/>
        </p:nvSpPr>
        <p:spPr>
          <a:xfrm>
            <a:off x="6675120" y="30906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Grow the female segment</a:t>
            </a:r>
            <a:endParaRPr lang="en-US" sz="1400" dirty="0"/>
          </a:p>
        </p:txBody>
      </p:sp>
      <p:sp>
        <p:nvSpPr>
          <p:cNvPr id="32" name="Action text 6"/>
          <p:cNvSpPr txBox="1"/>
          <p:nvPr/>
        </p:nvSpPr>
        <p:spPr>
          <a:xfrm>
            <a:off x="6172200" y="37033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Women spend slightly more but make 32% of purchases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Limits to keep in mind, and what to do next</a:t>
            </a:r>
            <a:endParaRPr lang="en-US" sz="2800" dirty="0"/>
          </a:p>
        </p:txBody>
      </p:sp>
      <p:sp>
        <p:nvSpPr>
          <p:cNvPr id="3" name="Close card limits"/>
          <p:cNvSpPr/>
          <p:nvPr/>
        </p:nvSpPr>
        <p:spPr>
          <a:xfrm>
            <a:off x="548640" y="1280160"/>
            <a:ext cx="3931920" cy="2834640"/>
          </a:xfrm>
          <a:prstGeom prst="roundRect">
            <a:avLst>
              <a:gd name="adj" fmla="val 3871"/>
            </a:avLst>
          </a:prstGeom>
          <a:solidFill>
            <a:schemeClr val="tx1">
              <a:alpha val="60000"/>
            </a:schemeClr>
          </a:solidFill>
          <a:ln/>
        </p:spPr>
      </p:sp>
      <p:sp>
        <p:nvSpPr>
          <p:cNvPr id="4" name="Close head limits"/>
          <p:cNvSpPr txBox="1"/>
          <p:nvPr/>
        </p:nvSpPr>
        <p:spPr>
          <a:xfrm>
            <a:off x="77724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5" name="Close list limits"/>
          <p:cNvSpPr txBox="1"/>
          <p:nvPr/>
        </p:nvSpPr>
        <p:spPr>
          <a:xfrm>
            <a:off x="777240" y="1965960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No purchase dates or product costs, so no trends or margins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One row per purchase, so lifetime value is hidden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37 missing ratings filled with category medians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Small gaps were not tested for significance</a:t>
            </a:r>
            <a:endParaRPr lang="en-US" sz="1400" dirty="0"/>
          </a:p>
        </p:txBody>
      </p:sp>
      <p:sp>
        <p:nvSpPr>
          <p:cNvPr id="6" name="Close card next"/>
          <p:cNvSpPr/>
          <p:nvPr/>
        </p:nvSpPr>
        <p:spPr>
          <a:xfrm>
            <a:off x="4663440" y="1280160"/>
            <a:ext cx="3931920" cy="2834640"/>
          </a:xfrm>
          <a:prstGeom prst="roundRect">
            <a:avLst>
              <a:gd name="adj" fmla="val 3871"/>
            </a:avLst>
          </a:prstGeom>
          <a:solidFill>
            <a:schemeClr val="tx1">
              <a:alpha val="60000"/>
            </a:schemeClr>
          </a:solidFill>
          <a:ln/>
        </p:spPr>
      </p:sp>
      <p:sp>
        <p:nvSpPr>
          <p:cNvPr id="7" name="Close head next"/>
          <p:cNvSpPr txBox="1"/>
          <p:nvPr/>
        </p:nvSpPr>
        <p:spPr>
          <a:xfrm>
            <a:off x="489204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8" name="Close list next"/>
          <p:cNvSpPr txBox="1"/>
          <p:nvPr/>
        </p:nvSpPr>
        <p:spPr>
          <a:xfrm>
            <a:off x="4892040" y="1965960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Add cost and date fields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Test the express and subscriber gaps statistically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Run a controlled discount test on the five items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Refresh the Power BI dashboard as new data arrives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opper Insights">
  <a:themeElements>
    <a:clrScheme name="Shopper Insights">
      <a:dk1>
        <a:srgbClr val="1F1630"/>
      </a:dk1>
      <a:lt1>
        <a:srgbClr val="FFFFFF"/>
      </a:lt1>
      <a:dk2>
        <a:srgbClr val="3A2559"/>
      </a:dk2>
      <a:lt2>
        <a:srgbClr val="F4F1F8"/>
      </a:lt2>
      <a:accent1>
        <a:srgbClr val="E8553A"/>
      </a:accent1>
      <a:accent2>
        <a:srgbClr val="7C5CBF"/>
      </a:accent2>
      <a:accent3>
        <a:srgbClr val="2FA39A"/>
      </a:accent3>
      <a:accent4>
        <a:srgbClr val="F2B544"/>
      </a:accent4>
      <a:accent5>
        <a:srgbClr val="CFC4E8"/>
      </a:accent5>
      <a:accent6>
        <a:srgbClr val="6E6482"/>
      </a:accent6>
      <a:hlink>
        <a:srgbClr val="7C5CBF"/>
      </a:hlink>
      <a:folHlink>
        <a:srgbClr val="6E6482"/>
      </a:folHlink>
    </a:clrScheme>
    <a:fontScheme name="Shopper Insight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>PptxGenJS Presentation</dc:subject>
  <dc:creator>Project team</dc:creator>
  <cp:lastModifiedBy>Project team</cp:lastModifiedBy>
  <cp:revision>1</cp:revision>
  <dcterms:created xsi:type="dcterms:W3CDTF">2026-10-14T12:09:55Z</dcterms:created>
  <dcterms:modified xsi:type="dcterms:W3CDTF">2026-10-14T12:09:55Z</dcterms:modified>
</cp:coreProperties>
</file>